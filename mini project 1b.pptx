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083800" cy="7562850"/>
  <p:notesSz cx="100838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52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2488"/>
            <a:ext cx="495934" cy="3076575"/>
          </a:xfrm>
          <a:custGeom>
            <a:avLst/>
            <a:gdLst/>
            <a:ahLst/>
            <a:cxnLst/>
            <a:rect l="l" t="t" r="r" b="b"/>
            <a:pathLst>
              <a:path w="495934" h="3076575">
                <a:moveTo>
                  <a:pt x="0" y="0"/>
                </a:moveTo>
                <a:lnTo>
                  <a:pt x="0" y="3076538"/>
                </a:lnTo>
                <a:lnTo>
                  <a:pt x="495351" y="3076549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62323" y="4612475"/>
            <a:ext cx="4417695" cy="2947035"/>
          </a:xfrm>
          <a:custGeom>
            <a:avLst/>
            <a:gdLst/>
            <a:ahLst/>
            <a:cxnLst/>
            <a:rect l="l" t="t" r="r" b="b"/>
            <a:pathLst>
              <a:path w="4417695" h="2947034">
                <a:moveTo>
                  <a:pt x="0" y="2946563"/>
                </a:moveTo>
                <a:lnTo>
                  <a:pt x="4417411" y="0"/>
                </a:lnTo>
              </a:path>
            </a:pathLst>
          </a:custGeom>
          <a:ln w="9144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764780" y="1524"/>
            <a:ext cx="1343025" cy="7559675"/>
          </a:xfrm>
          <a:custGeom>
            <a:avLst/>
            <a:gdLst/>
            <a:ahLst/>
            <a:cxnLst/>
            <a:rect l="l" t="t" r="r" b="b"/>
            <a:pathLst>
              <a:path w="1343025" h="7559675">
                <a:moveTo>
                  <a:pt x="0" y="0"/>
                </a:moveTo>
                <a:lnTo>
                  <a:pt x="1343025" y="7559673"/>
                </a:lnTo>
              </a:path>
            </a:pathLst>
          </a:custGeom>
          <a:ln w="9144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598664" y="0"/>
            <a:ext cx="2481580" cy="7559040"/>
          </a:xfrm>
          <a:custGeom>
            <a:avLst/>
            <a:gdLst/>
            <a:ahLst/>
            <a:cxnLst/>
            <a:rect l="l" t="t" r="r" b="b"/>
            <a:pathLst>
              <a:path w="2481579" h="7559040">
                <a:moveTo>
                  <a:pt x="2231262" y="0"/>
                </a:moveTo>
                <a:lnTo>
                  <a:pt x="0" y="7558852"/>
                </a:lnTo>
                <a:lnTo>
                  <a:pt x="49676" y="7559037"/>
                </a:lnTo>
                <a:lnTo>
                  <a:pt x="2481071" y="7559037"/>
                </a:lnTo>
                <a:lnTo>
                  <a:pt x="2481071" y="8861"/>
                </a:lnTo>
                <a:lnTo>
                  <a:pt x="2231262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944688" y="0"/>
            <a:ext cx="2135505" cy="7559040"/>
          </a:xfrm>
          <a:custGeom>
            <a:avLst/>
            <a:gdLst/>
            <a:ahLst/>
            <a:cxnLst/>
            <a:rect l="l" t="t" r="r" b="b"/>
            <a:pathLst>
              <a:path w="2135504" h="7559040">
                <a:moveTo>
                  <a:pt x="2135047" y="0"/>
                </a:moveTo>
                <a:lnTo>
                  <a:pt x="0" y="0"/>
                </a:lnTo>
                <a:lnTo>
                  <a:pt x="1322628" y="7559035"/>
                </a:lnTo>
                <a:lnTo>
                  <a:pt x="2135047" y="7559035"/>
                </a:lnTo>
                <a:lnTo>
                  <a:pt x="2135047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318249" y="4324296"/>
            <a:ext cx="2761615" cy="3235325"/>
          </a:xfrm>
          <a:custGeom>
            <a:avLst/>
            <a:gdLst/>
            <a:ahLst/>
            <a:cxnLst/>
            <a:rect l="l" t="t" r="r" b="b"/>
            <a:pathLst>
              <a:path w="2761615" h="3235325">
                <a:moveTo>
                  <a:pt x="2761485" y="0"/>
                </a:moveTo>
                <a:lnTo>
                  <a:pt x="0" y="3234741"/>
                </a:lnTo>
                <a:lnTo>
                  <a:pt x="2761485" y="3234741"/>
                </a:lnTo>
                <a:lnTo>
                  <a:pt x="276148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729153" y="0"/>
            <a:ext cx="2350770" cy="7559040"/>
          </a:xfrm>
          <a:custGeom>
            <a:avLst/>
            <a:gdLst/>
            <a:ahLst/>
            <a:cxnLst/>
            <a:rect l="l" t="t" r="r" b="b"/>
            <a:pathLst>
              <a:path w="2350770" h="7559040">
                <a:moveTo>
                  <a:pt x="2350583" y="0"/>
                </a:moveTo>
                <a:lnTo>
                  <a:pt x="0" y="0"/>
                </a:lnTo>
                <a:lnTo>
                  <a:pt x="2044257" y="7559035"/>
                </a:lnTo>
                <a:lnTo>
                  <a:pt x="2350583" y="7549977"/>
                </a:lnTo>
                <a:lnTo>
                  <a:pt x="2350583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7048" y="0"/>
            <a:ext cx="932815" cy="7559040"/>
          </a:xfrm>
          <a:custGeom>
            <a:avLst/>
            <a:gdLst/>
            <a:ahLst/>
            <a:cxnLst/>
            <a:rect l="l" t="t" r="r" b="b"/>
            <a:pathLst>
              <a:path w="932815" h="7559040">
                <a:moveTo>
                  <a:pt x="932686" y="0"/>
                </a:moveTo>
                <a:lnTo>
                  <a:pt x="742686" y="0"/>
                </a:lnTo>
                <a:lnTo>
                  <a:pt x="0" y="7559035"/>
                </a:lnTo>
                <a:lnTo>
                  <a:pt x="932686" y="7559035"/>
                </a:lnTo>
                <a:lnTo>
                  <a:pt x="932686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925794" y="0"/>
            <a:ext cx="1154430" cy="7559040"/>
          </a:xfrm>
          <a:custGeom>
            <a:avLst/>
            <a:gdLst/>
            <a:ahLst/>
            <a:cxnLst/>
            <a:rect l="l" t="t" r="r" b="b"/>
            <a:pathLst>
              <a:path w="1154429" h="7559040">
                <a:moveTo>
                  <a:pt x="1153941" y="0"/>
                </a:moveTo>
                <a:lnTo>
                  <a:pt x="0" y="0"/>
                </a:lnTo>
                <a:lnTo>
                  <a:pt x="1033925" y="7559035"/>
                </a:lnTo>
                <a:lnTo>
                  <a:pt x="1153941" y="7559035"/>
                </a:lnTo>
                <a:lnTo>
                  <a:pt x="1153941" y="0"/>
                </a:lnTo>
                <a:close/>
              </a:path>
            </a:pathLst>
          </a:custGeom>
          <a:solidFill>
            <a:srgbClr val="226192">
              <a:alpha val="8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894064" y="5423326"/>
            <a:ext cx="1186180" cy="2136140"/>
          </a:xfrm>
          <a:custGeom>
            <a:avLst/>
            <a:gdLst/>
            <a:ahLst/>
            <a:cxnLst/>
            <a:rect l="l" t="t" r="r" b="b"/>
            <a:pathLst>
              <a:path w="1186179" h="2136140">
                <a:moveTo>
                  <a:pt x="1185671" y="0"/>
                </a:moveTo>
                <a:lnTo>
                  <a:pt x="0" y="2135711"/>
                </a:lnTo>
                <a:lnTo>
                  <a:pt x="1185671" y="2130205"/>
                </a:lnTo>
                <a:lnTo>
                  <a:pt x="1185671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52519" y="366217"/>
            <a:ext cx="1778761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372" y="1588576"/>
            <a:ext cx="9103055" cy="277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8374" y="2392203"/>
            <a:ext cx="1911688" cy="3587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85335" y="2240661"/>
            <a:ext cx="1908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5" dirty="0">
                <a:latin typeface="Times New Roman"/>
                <a:cs typeface="Times New Roman"/>
              </a:rPr>
              <a:t>Drivi</a:t>
            </a:r>
            <a:r>
              <a:rPr b="0" spc="5" dirty="0">
                <a:latin typeface="Times New Roman"/>
                <a:cs typeface="Times New Roman"/>
              </a:rPr>
              <a:t>c</a:t>
            </a:r>
            <a:r>
              <a:rPr b="0" spc="-5" dirty="0">
                <a:latin typeface="Times New Roman"/>
                <a:cs typeface="Times New Roman"/>
              </a:rPr>
              <a:t>t</a:t>
            </a:r>
            <a:r>
              <a:rPr b="0" spc="5" dirty="0">
                <a:latin typeface="Times New Roman"/>
                <a:cs typeface="Times New Roman"/>
              </a:rPr>
              <a:t>i</a:t>
            </a:r>
            <a:r>
              <a:rPr b="0" spc="-5" dirty="0">
                <a:latin typeface="Times New Roman"/>
                <a:cs typeface="Times New Roman"/>
              </a:rPr>
              <a:t>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6792" y="3102813"/>
            <a:ext cx="5140325" cy="2263140"/>
            <a:chOff x="2526792" y="3102813"/>
            <a:chExt cx="5140325" cy="22631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6792" y="3102813"/>
              <a:ext cx="5140198" cy="9035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3888" y="3556965"/>
              <a:ext cx="4271518" cy="9035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89504" y="4008069"/>
              <a:ext cx="4323334" cy="9035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3472" y="4462221"/>
              <a:ext cx="4835398" cy="90352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166872" y="5846064"/>
            <a:ext cx="3836035" cy="1096010"/>
            <a:chOff x="3166872" y="5846064"/>
            <a:chExt cx="3836035" cy="109601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5136" y="5846064"/>
              <a:ext cx="2592197" cy="7907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66872" y="6263640"/>
              <a:ext cx="3835654" cy="67801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771394" y="3213354"/>
            <a:ext cx="4527550" cy="35198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3710"/>
              </a:lnSpc>
              <a:spcBef>
                <a:spcPts val="90"/>
              </a:spcBef>
            </a:pPr>
            <a:r>
              <a:rPr sz="3200" spc="-65" dirty="0">
                <a:latin typeface="Times New Roman"/>
                <a:cs typeface="Times New Roman"/>
              </a:rPr>
              <a:t>Vedant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Parulekar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21107034</a:t>
            </a:r>
            <a:endParaRPr sz="3200">
              <a:latin typeface="Times New Roman"/>
              <a:cs typeface="Times New Roman"/>
            </a:endParaRPr>
          </a:p>
          <a:p>
            <a:pPr marL="635" algn="ctr">
              <a:lnSpc>
                <a:spcPts val="3565"/>
              </a:lnSpc>
            </a:pPr>
            <a:r>
              <a:rPr sz="3200" spc="-45" dirty="0">
                <a:latin typeface="Times New Roman"/>
                <a:cs typeface="Times New Roman"/>
              </a:rPr>
              <a:t>Tanaya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Patil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21107017</a:t>
            </a:r>
            <a:endParaRPr sz="3200">
              <a:latin typeface="Times New Roman"/>
              <a:cs typeface="Times New Roman"/>
            </a:endParaRPr>
          </a:p>
          <a:p>
            <a:pPr marL="4445" algn="ctr">
              <a:lnSpc>
                <a:spcPts val="3565"/>
              </a:lnSpc>
            </a:pPr>
            <a:r>
              <a:rPr sz="3200" spc="-5" dirty="0">
                <a:latin typeface="Times New Roman"/>
                <a:cs typeface="Times New Roman"/>
              </a:rPr>
              <a:t>Harsh Mulik</a:t>
            </a:r>
            <a:r>
              <a:rPr sz="3200" spc="-15" dirty="0">
                <a:latin typeface="Times New Roman"/>
                <a:cs typeface="Times New Roman"/>
              </a:rPr>
              <a:t> 21107044</a:t>
            </a:r>
            <a:endParaRPr sz="3200">
              <a:latin typeface="Times New Roman"/>
              <a:cs typeface="Times New Roman"/>
            </a:endParaRPr>
          </a:p>
          <a:p>
            <a:pPr marL="3175" algn="ctr">
              <a:lnSpc>
                <a:spcPts val="3710"/>
              </a:lnSpc>
            </a:pPr>
            <a:r>
              <a:rPr sz="3200" spc="-5" dirty="0">
                <a:latin typeface="Times New Roman"/>
                <a:cs typeface="Times New Roman"/>
              </a:rPr>
              <a:t>Ridhvik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Thakur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Times New Roman"/>
                <a:cs typeface="Times New Roman"/>
              </a:rPr>
              <a:t>21107056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 marL="8255" algn="ctr">
              <a:lnSpc>
                <a:spcPts val="3260"/>
              </a:lnSpc>
              <a:spcBef>
                <a:spcPts val="2905"/>
              </a:spcBef>
            </a:pPr>
            <a:r>
              <a:rPr sz="2800" b="1" spc="-5" dirty="0">
                <a:latin typeface="Times New Roman"/>
                <a:cs typeface="Times New Roman"/>
              </a:rPr>
              <a:t>Project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5" dirty="0">
                <a:latin typeface="Times New Roman"/>
                <a:cs typeface="Times New Roman"/>
              </a:rPr>
              <a:t>Guide</a:t>
            </a:r>
            <a:endParaRPr sz="2800">
              <a:latin typeface="Times New Roman"/>
              <a:cs typeface="Times New Roman"/>
            </a:endParaRPr>
          </a:p>
          <a:p>
            <a:pPr marL="8255" algn="ctr">
              <a:lnSpc>
                <a:spcPts val="2780"/>
              </a:lnSpc>
            </a:pPr>
            <a:r>
              <a:rPr sz="2400" b="1" spc="-15" dirty="0">
                <a:latin typeface="Times New Roman"/>
                <a:cs typeface="Times New Roman"/>
              </a:rPr>
              <a:t>Prof.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Rajashri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Chaudhari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0"/>
            <a:ext cx="10080625" cy="1818639"/>
            <a:chOff x="0" y="0"/>
            <a:chExt cx="10080625" cy="1818639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1712976"/>
              <a:ext cx="10079735" cy="1051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10080625" cy="17556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033" y="1368628"/>
            <a:ext cx="2533650" cy="494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100"/>
              </a:spcBef>
              <a:buSzPct val="43750"/>
              <a:buFont typeface="Wingdings"/>
              <a:buChar char=""/>
              <a:tabLst>
                <a:tab pos="335280" algn="l"/>
                <a:tab pos="335915" algn="l"/>
              </a:tabLst>
            </a:pPr>
            <a:r>
              <a:rPr sz="2400" spc="-10" dirty="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"/>
            </a:pPr>
            <a:endParaRPr sz="3700">
              <a:latin typeface="Times New Roman"/>
              <a:cs typeface="Times New Roman"/>
            </a:endParaRPr>
          </a:p>
          <a:p>
            <a:pPr marL="335280" indent="-323215">
              <a:lnSpc>
                <a:spcPct val="100000"/>
              </a:lnSpc>
              <a:spcBef>
                <a:spcPts val="5"/>
              </a:spcBef>
              <a:buSzPct val="43750"/>
              <a:buFont typeface="Wingdings"/>
              <a:buChar char=""/>
              <a:tabLst>
                <a:tab pos="335280" algn="l"/>
                <a:tab pos="335915" algn="l"/>
              </a:tabLst>
            </a:pPr>
            <a:r>
              <a:rPr sz="2400" spc="-5" dirty="0">
                <a:latin typeface="Times New Roman"/>
                <a:cs typeface="Times New Roman"/>
              </a:rPr>
              <a:t>Objectives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"/>
            </a:pPr>
            <a:endParaRPr sz="3700">
              <a:latin typeface="Times New Roman"/>
              <a:cs typeface="Times New Roman"/>
            </a:endParaRPr>
          </a:p>
          <a:p>
            <a:pPr marL="335280" indent="-323215">
              <a:lnSpc>
                <a:spcPct val="100000"/>
              </a:lnSpc>
              <a:buSzPct val="43750"/>
              <a:buFont typeface="Wingdings"/>
              <a:buChar char=""/>
              <a:tabLst>
                <a:tab pos="335280" algn="l"/>
                <a:tab pos="335915" algn="l"/>
              </a:tabLst>
            </a:pPr>
            <a:r>
              <a:rPr sz="2400" spc="-5" dirty="0">
                <a:latin typeface="Times New Roman"/>
                <a:cs typeface="Times New Roman"/>
              </a:rPr>
              <a:t>Scope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"/>
            </a:pPr>
            <a:endParaRPr sz="3700">
              <a:latin typeface="Times New Roman"/>
              <a:cs typeface="Times New Roman"/>
            </a:endParaRPr>
          </a:p>
          <a:p>
            <a:pPr marL="335280" indent="-323215">
              <a:lnSpc>
                <a:spcPct val="100000"/>
              </a:lnSpc>
              <a:buSzPct val="43750"/>
              <a:buFont typeface="Wingdings"/>
              <a:buChar char=""/>
              <a:tabLst>
                <a:tab pos="335280" algn="l"/>
                <a:tab pos="335915" algn="l"/>
              </a:tabLst>
            </a:pPr>
            <a:r>
              <a:rPr sz="2400" spc="-10" dirty="0"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"/>
            </a:pPr>
            <a:endParaRPr sz="3700">
              <a:latin typeface="Times New Roman"/>
              <a:cs typeface="Times New Roman"/>
            </a:endParaRPr>
          </a:p>
          <a:p>
            <a:pPr marL="335280" indent="-323215">
              <a:lnSpc>
                <a:spcPct val="100000"/>
              </a:lnSpc>
              <a:buSzPct val="43750"/>
              <a:buFont typeface="Wingdings"/>
              <a:buChar char=""/>
              <a:tabLst>
                <a:tab pos="335280" algn="l"/>
                <a:tab pos="335915" algn="l"/>
              </a:tabLst>
            </a:pPr>
            <a:r>
              <a:rPr sz="2400" spc="-5" dirty="0">
                <a:latin typeface="Times New Roman"/>
                <a:cs typeface="Times New Roman"/>
              </a:rPr>
              <a:t>Project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Outcomes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"/>
            </a:pPr>
            <a:endParaRPr sz="3700">
              <a:latin typeface="Times New Roman"/>
              <a:cs typeface="Times New Roman"/>
            </a:endParaRPr>
          </a:p>
          <a:p>
            <a:pPr marL="335280" indent="-323215">
              <a:lnSpc>
                <a:spcPct val="100000"/>
              </a:lnSpc>
              <a:buSzPct val="43750"/>
              <a:buFont typeface="Wingdings"/>
              <a:buChar char=""/>
              <a:tabLst>
                <a:tab pos="335280" algn="l"/>
                <a:tab pos="335915" algn="l"/>
              </a:tabLst>
            </a:pPr>
            <a:r>
              <a:rPr sz="2400" spc="-25" dirty="0">
                <a:latin typeface="Times New Roman"/>
                <a:cs typeface="Times New Roman"/>
              </a:rPr>
              <a:t>Technology </a:t>
            </a:r>
            <a:r>
              <a:rPr sz="2400" spc="-5" dirty="0">
                <a:latin typeface="Times New Roman"/>
                <a:cs typeface="Times New Roman"/>
              </a:rPr>
              <a:t>Stack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958" y="779811"/>
            <a:ext cx="2926024" cy="3587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829" y="625805"/>
            <a:ext cx="29616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75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7509" y="1584655"/>
            <a:ext cx="8997315" cy="277812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imes New Roman"/>
                <a:cs typeface="Times New Roman"/>
              </a:rPr>
              <a:t>Problem</a:t>
            </a:r>
            <a:r>
              <a:rPr sz="2400" spc="-10" dirty="0">
                <a:latin typeface="Times New Roman"/>
                <a:cs typeface="Times New Roman"/>
              </a:rPr>
              <a:t> Identified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85"/>
              </a:lnSpc>
              <a:spcBef>
                <a:spcPts val="1200"/>
              </a:spcBef>
              <a:tabLst>
                <a:tab pos="1003300" algn="l"/>
                <a:tab pos="1991360" algn="l"/>
                <a:tab pos="2777490" algn="l"/>
                <a:tab pos="3600450" algn="l"/>
                <a:tab pos="4606925" algn="l"/>
                <a:tab pos="4902200" algn="l"/>
                <a:tab pos="5942330" algn="l"/>
                <a:tab pos="6543040" algn="l"/>
                <a:tab pos="7515859" algn="l"/>
                <a:tab pos="8518525" algn="l"/>
              </a:tabLst>
            </a:pPr>
            <a:r>
              <a:rPr sz="2400" spc="-5" dirty="0">
                <a:latin typeface="Times New Roman"/>
                <a:cs typeface="Times New Roman"/>
              </a:rPr>
              <a:t>People	paying	</a:t>
            </a:r>
            <a:r>
              <a:rPr sz="2400" dirty="0">
                <a:latin typeface="Times New Roman"/>
                <a:cs typeface="Times New Roman"/>
              </a:rPr>
              <a:t>more	when	</a:t>
            </a:r>
            <a:r>
              <a:rPr sz="2400" spc="-5" dirty="0">
                <a:latin typeface="Times New Roman"/>
                <a:cs typeface="Times New Roman"/>
              </a:rPr>
              <a:t>buying	</a:t>
            </a:r>
            <a:r>
              <a:rPr sz="2400" dirty="0">
                <a:latin typeface="Times New Roman"/>
                <a:cs typeface="Times New Roman"/>
              </a:rPr>
              <a:t>a	</a:t>
            </a:r>
            <a:r>
              <a:rPr sz="2400" spc="-5" dirty="0">
                <a:latin typeface="Times New Roman"/>
                <a:cs typeface="Times New Roman"/>
              </a:rPr>
              <a:t>vehicle	and	people	getting	</a:t>
            </a:r>
            <a:r>
              <a:rPr sz="2400" dirty="0">
                <a:latin typeface="Times New Roman"/>
                <a:cs typeface="Times New Roman"/>
              </a:rPr>
              <a:t>less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85"/>
              </a:lnSpc>
            </a:pPr>
            <a:r>
              <a:rPr sz="2400" dirty="0">
                <a:latin typeface="Times New Roman"/>
                <a:cs typeface="Times New Roman"/>
              </a:rPr>
              <a:t>money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selling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vehicle.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imes New Roman"/>
                <a:cs typeface="Times New Roman"/>
              </a:rPr>
              <a:t>Solution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Proposed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660"/>
              </a:lnSpc>
              <a:spcBef>
                <a:spcPts val="1475"/>
              </a:spcBef>
            </a:pPr>
            <a:r>
              <a:rPr sz="2400" spc="-10" dirty="0">
                <a:latin typeface="Times New Roman"/>
                <a:cs typeface="Times New Roman"/>
              </a:rPr>
              <a:t>Based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description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vehicle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user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puts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in,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approximately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accurate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value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vehicle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displayed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front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998" y="779811"/>
            <a:ext cx="2527367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829" y="625805"/>
            <a:ext cx="2543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70" dirty="0"/>
              <a:t> </a:t>
            </a:r>
            <a:r>
              <a:rPr dirty="0"/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0557" y="1740865"/>
            <a:ext cx="8990965" cy="31299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69900" marR="5715" indent="-457200" algn="just">
              <a:lnSpc>
                <a:spcPct val="93000"/>
              </a:lnSpc>
              <a:spcBef>
                <a:spcPts val="305"/>
              </a:spcBef>
              <a:buAutoNum type="arabicPeriod"/>
              <a:tabLst>
                <a:tab pos="469900" algn="l"/>
              </a:tabLst>
            </a:pPr>
            <a:r>
              <a:rPr sz="2400" spc="-90" dirty="0">
                <a:latin typeface="Times New Roman"/>
                <a:cs typeface="Times New Roman"/>
              </a:rPr>
              <a:t>To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build a </a:t>
            </a:r>
            <a:r>
              <a:rPr sz="2400" spc="-5" dirty="0">
                <a:latin typeface="Times New Roman"/>
                <a:cs typeface="Times New Roman"/>
              </a:rPr>
              <a:t>machine learning model that </a:t>
            </a:r>
            <a:r>
              <a:rPr sz="2400" spc="-1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accurately predict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price </a:t>
            </a:r>
            <a:r>
              <a:rPr sz="2400" dirty="0">
                <a:latin typeface="Times New Roman"/>
                <a:cs typeface="Times New Roman"/>
              </a:rPr>
              <a:t>of a used car </a:t>
            </a:r>
            <a:r>
              <a:rPr sz="2400" spc="-5" dirty="0">
                <a:latin typeface="Times New Roman"/>
                <a:cs typeface="Times New Roman"/>
              </a:rPr>
              <a:t>based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various factors </a:t>
            </a:r>
            <a:r>
              <a:rPr sz="2400" dirty="0">
                <a:latin typeface="Times New Roman"/>
                <a:cs typeface="Times New Roman"/>
              </a:rPr>
              <a:t>such </a:t>
            </a:r>
            <a:r>
              <a:rPr sz="2400" spc="-10" dirty="0">
                <a:latin typeface="Times New Roman"/>
                <a:cs typeface="Times New Roman"/>
              </a:rPr>
              <a:t>as age, </a:t>
            </a:r>
            <a:r>
              <a:rPr sz="2400" spc="-5" dirty="0">
                <a:latin typeface="Times New Roman"/>
                <a:cs typeface="Times New Roman"/>
              </a:rPr>
              <a:t>mileage,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model,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condition, </a:t>
            </a:r>
            <a:r>
              <a:rPr sz="2400" spc="-5" dirty="0">
                <a:latin typeface="Times New Roman"/>
                <a:cs typeface="Times New Roman"/>
              </a:rPr>
              <a:t>and location.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93400"/>
              </a:lnSpc>
              <a:spcBef>
                <a:spcPts val="1390"/>
              </a:spcBef>
              <a:buAutoNum type="arabicPeriod"/>
              <a:tabLst>
                <a:tab pos="469900" algn="l"/>
              </a:tabLst>
            </a:pPr>
            <a:r>
              <a:rPr sz="2400" spc="-8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provide </a:t>
            </a:r>
            <a:r>
              <a:rPr sz="2400" spc="-5" dirty="0">
                <a:latin typeface="Times New Roman"/>
                <a:cs typeface="Times New Roman"/>
              </a:rPr>
              <a:t>accurate </a:t>
            </a:r>
            <a:r>
              <a:rPr sz="2400" dirty="0">
                <a:latin typeface="Times New Roman"/>
                <a:cs typeface="Times New Roman"/>
              </a:rPr>
              <a:t>predictions of used </a:t>
            </a:r>
            <a:r>
              <a:rPr sz="2400" spc="-10" dirty="0">
                <a:latin typeface="Times New Roman"/>
                <a:cs typeface="Times New Roman"/>
              </a:rPr>
              <a:t>car </a:t>
            </a:r>
            <a:r>
              <a:rPr sz="2400" spc="-5" dirty="0">
                <a:latin typeface="Times New Roman"/>
                <a:cs typeface="Times New Roman"/>
              </a:rPr>
              <a:t>prices,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system can </a:t>
            </a:r>
            <a:r>
              <a:rPr sz="2400" spc="-5" dirty="0">
                <a:latin typeface="Times New Roman"/>
                <a:cs typeface="Times New Roman"/>
              </a:rPr>
              <a:t> assist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buyers</a:t>
            </a:r>
            <a:r>
              <a:rPr sz="2400" dirty="0">
                <a:latin typeface="Times New Roman"/>
                <a:cs typeface="Times New Roman"/>
              </a:rPr>
              <a:t> 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informed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decisions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about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whether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purchase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particular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vehicle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not.</a:t>
            </a:r>
            <a:endParaRPr sz="2400">
              <a:latin typeface="Times New Roman"/>
              <a:cs typeface="Times New Roman"/>
            </a:endParaRPr>
          </a:p>
          <a:p>
            <a:pPr marL="469900" marR="6350" indent="-457200" algn="just">
              <a:lnSpc>
                <a:spcPts val="2690"/>
              </a:lnSpc>
              <a:spcBef>
                <a:spcPts val="1425"/>
              </a:spcBef>
              <a:buAutoNum type="arabicPeriod"/>
              <a:tabLst>
                <a:tab pos="469900" algn="l"/>
              </a:tabLst>
            </a:pPr>
            <a:r>
              <a:rPr sz="2400" spc="-85" dirty="0">
                <a:latin typeface="Times New Roman"/>
                <a:cs typeface="Times New Roman"/>
              </a:rPr>
              <a:t>To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 </a:t>
            </a:r>
            <a:r>
              <a:rPr sz="2400" spc="-5" dirty="0">
                <a:latin typeface="Times New Roman"/>
                <a:cs typeface="Times New Roman"/>
              </a:rPr>
              <a:t>extra and intricate </a:t>
            </a:r>
            <a:r>
              <a:rPr sz="2400" spc="-10" dirty="0">
                <a:latin typeface="Times New Roman"/>
                <a:cs typeface="Times New Roman"/>
              </a:rPr>
              <a:t>features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35" dirty="0">
                <a:latin typeface="Times New Roman"/>
                <a:cs typeface="Times New Roman"/>
              </a:rPr>
              <a:t>car,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customer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interested </a:t>
            </a:r>
            <a:r>
              <a:rPr sz="2400" dirty="0">
                <a:latin typeface="Times New Roman"/>
                <a:cs typeface="Times New Roman"/>
              </a:rPr>
              <a:t>in.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024" y="718851"/>
            <a:ext cx="1618221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829" y="566166"/>
            <a:ext cx="1625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75" dirty="0"/>
              <a:t> </a:t>
            </a:r>
            <a:r>
              <a:rPr spc="-5" dirty="0"/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0557" y="1588576"/>
            <a:ext cx="9137015" cy="22612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5" dirty="0">
                <a:latin typeface="Times New Roman"/>
                <a:cs typeface="Times New Roman"/>
              </a:rPr>
              <a:t> 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extremely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useful</a:t>
            </a:r>
            <a:r>
              <a:rPr sz="2400" dirty="0">
                <a:latin typeface="Times New Roman"/>
                <a:cs typeface="Times New Roman"/>
              </a:rPr>
              <a:t> 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vehicle </a:t>
            </a:r>
            <a:r>
              <a:rPr sz="2400" spc="-30" dirty="0">
                <a:latin typeface="Times New Roman"/>
                <a:cs typeface="Times New Roman"/>
              </a:rPr>
              <a:t>industry.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ts val="2785"/>
              </a:lnSpc>
              <a:spcBef>
                <a:spcPts val="12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predict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prices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various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products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in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other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industries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ts val="2785"/>
              </a:lnSpc>
            </a:pPr>
            <a:r>
              <a:rPr sz="2400" spc="-5" dirty="0">
                <a:latin typeface="Times New Roman"/>
                <a:cs typeface="Times New Roman"/>
              </a:rPr>
              <a:t>well</a:t>
            </a:r>
            <a:r>
              <a:rPr sz="2400" dirty="0">
                <a:latin typeface="Times New Roman"/>
                <a:cs typeface="Times New Roman"/>
              </a:rPr>
              <a:t> using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same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algorithm.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ts val="2775"/>
              </a:lnSpc>
              <a:spcBef>
                <a:spcPts val="1200"/>
              </a:spcBef>
              <a:buAutoNum type="arabicPeriod" startAt="3"/>
              <a:tabLst>
                <a:tab pos="469265" algn="l"/>
                <a:tab pos="469900" algn="l"/>
                <a:tab pos="1100455" algn="l"/>
                <a:tab pos="1527175" algn="l"/>
                <a:tab pos="2207260" algn="l"/>
                <a:tab pos="3210560" algn="l"/>
                <a:tab pos="3710304" algn="l"/>
                <a:tab pos="4222750" algn="l"/>
                <a:tab pos="5597525" algn="l"/>
                <a:tab pos="5975985" algn="l"/>
                <a:tab pos="6485255" algn="l"/>
                <a:tab pos="6997065" algn="l"/>
                <a:tab pos="7710805" algn="l"/>
                <a:tab pos="8460740" algn="l"/>
              </a:tabLst>
            </a:pPr>
            <a:r>
              <a:rPr sz="2400" dirty="0">
                <a:latin typeface="Times New Roman"/>
                <a:cs typeface="Times New Roman"/>
              </a:rPr>
              <a:t>Can	</a:t>
            </a: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e	v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3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y	h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lpful	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spc="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r	the	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ustome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s	to	</a:t>
            </a:r>
            <a:r>
              <a:rPr sz="2400" spc="-25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t	the	ri</a:t>
            </a:r>
            <a:r>
              <a:rPr sz="2400" spc="-25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ht	p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ice	w</a:t>
            </a:r>
            <a:r>
              <a:rPr sz="2400" spc="-10" dirty="0">
                <a:latin typeface="Times New Roman"/>
                <a:cs typeface="Times New Roman"/>
              </a:rPr>
              <a:t>he</a:t>
            </a:r>
            <a:r>
              <a:rPr sz="240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ts val="2775"/>
              </a:lnSpc>
            </a:pPr>
            <a:r>
              <a:rPr sz="2400" spc="-15" dirty="0">
                <a:latin typeface="Times New Roman"/>
                <a:cs typeface="Times New Roman"/>
              </a:rPr>
              <a:t>buying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vehicles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well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while</a:t>
            </a:r>
            <a:r>
              <a:rPr sz="2400" spc="-5" dirty="0">
                <a:latin typeface="Times New Roman"/>
                <a:cs typeface="Times New Roman"/>
              </a:rPr>
              <a:t> selling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981" y="779811"/>
            <a:ext cx="2169996" cy="3587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829" y="625805"/>
            <a:ext cx="2177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7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579755" indent="-4572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579755" algn="l"/>
                <a:tab pos="580390" algn="l"/>
              </a:tabLst>
            </a:pPr>
            <a:r>
              <a:rPr spc="-5" dirty="0"/>
              <a:t>Feature</a:t>
            </a:r>
            <a:r>
              <a:rPr spc="-2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:</a:t>
            </a:r>
          </a:p>
          <a:p>
            <a:pPr marL="1064260" lvl="1" indent="-457834">
              <a:lnSpc>
                <a:spcPts val="2785"/>
              </a:lnSpc>
              <a:spcBef>
                <a:spcPts val="1200"/>
              </a:spcBef>
              <a:buFont typeface="Arial MT"/>
              <a:buChar char="•"/>
              <a:tabLst>
                <a:tab pos="1064895" algn="l"/>
                <a:tab pos="1065530" algn="l"/>
                <a:tab pos="2180590" algn="l"/>
                <a:tab pos="4577080" algn="l"/>
                <a:tab pos="5202555" algn="l"/>
                <a:tab pos="6064885" algn="l"/>
                <a:tab pos="6805930" algn="l"/>
                <a:tab pos="7296784" algn="l"/>
                <a:tab pos="7802880" algn="l"/>
              </a:tabLst>
            </a:pP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re</a:t>
            </a:r>
            <a:r>
              <a:rPr sz="2400" dirty="0">
                <a:latin typeface="Times New Roman"/>
                <a:cs typeface="Times New Roman"/>
              </a:rPr>
              <a:t>di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ts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pp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15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imat</a:t>
            </a:r>
            <a:r>
              <a:rPr sz="2400" spc="-35" dirty="0">
                <a:latin typeface="Times New Roman"/>
                <a:cs typeface="Times New Roman"/>
              </a:rPr>
              <a:t>e</a:t>
            </a:r>
            <a:r>
              <a:rPr sz="2400" spc="2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y 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he	b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st	sui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d	pri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or	the	m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ntioned</a:t>
            </a:r>
            <a:endParaRPr sz="2400">
              <a:latin typeface="Times New Roman"/>
              <a:cs typeface="Times New Roman"/>
            </a:endParaRPr>
          </a:p>
          <a:p>
            <a:pPr marL="1064260">
              <a:lnSpc>
                <a:spcPts val="2785"/>
              </a:lnSpc>
            </a:pPr>
            <a:r>
              <a:rPr spc="-5" dirty="0"/>
              <a:t>vehicle.</a:t>
            </a:r>
          </a:p>
          <a:p>
            <a:pPr marL="579755" indent="-457200">
              <a:lnSpc>
                <a:spcPct val="100000"/>
              </a:lnSpc>
              <a:spcBef>
                <a:spcPts val="1200"/>
              </a:spcBef>
              <a:buAutoNum type="arabicPeriod" startAt="2"/>
              <a:tabLst>
                <a:tab pos="579755" algn="l"/>
                <a:tab pos="580390" algn="l"/>
              </a:tabLst>
            </a:pPr>
            <a:r>
              <a:rPr spc="-5" dirty="0"/>
              <a:t>Feature</a:t>
            </a:r>
            <a:r>
              <a:rPr spc="-20" dirty="0"/>
              <a:t> </a:t>
            </a:r>
            <a:r>
              <a:rPr dirty="0"/>
              <a:t>2</a:t>
            </a:r>
            <a:r>
              <a:rPr spc="-35" dirty="0"/>
              <a:t> </a:t>
            </a:r>
            <a:r>
              <a:rPr dirty="0"/>
              <a:t>:</a:t>
            </a:r>
          </a:p>
          <a:p>
            <a:pPr marL="1064260" marR="8255" lvl="1" indent="-457834">
              <a:lnSpc>
                <a:spcPts val="2660"/>
              </a:lnSpc>
              <a:spcBef>
                <a:spcPts val="1475"/>
              </a:spcBef>
              <a:buFont typeface="Arial MT"/>
              <a:buChar char="•"/>
              <a:tabLst>
                <a:tab pos="1064895" algn="l"/>
                <a:tab pos="1065530" algn="l"/>
              </a:tabLst>
            </a:pP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EMI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calculator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loans,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tells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you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EMI/month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based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your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specifications.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284" y="779811"/>
            <a:ext cx="4279763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829" y="625805"/>
            <a:ext cx="42862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20" dirty="0"/>
              <a:t> </a:t>
            </a:r>
            <a:r>
              <a:rPr dirty="0"/>
              <a:t>Outcome</a:t>
            </a:r>
            <a:r>
              <a:rPr spc="-2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0557" y="1702287"/>
            <a:ext cx="8992235" cy="23413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 algn="just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After </a:t>
            </a:r>
            <a:r>
              <a:rPr sz="2400" dirty="0">
                <a:latin typeface="Times New Roman"/>
                <a:cs typeface="Times New Roman"/>
              </a:rPr>
              <a:t>mentioning the description of the </a:t>
            </a:r>
            <a:r>
              <a:rPr sz="2400" spc="-5" dirty="0">
                <a:latin typeface="Times New Roman"/>
                <a:cs typeface="Times New Roman"/>
              </a:rPr>
              <a:t>vehicle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5" dirty="0">
                <a:latin typeface="Times New Roman"/>
                <a:cs typeface="Times New Roman"/>
              </a:rPr>
              <a:t>your </a:t>
            </a:r>
            <a:r>
              <a:rPr sz="2400" spc="-5" dirty="0">
                <a:latin typeface="Times New Roman"/>
                <a:cs typeface="Times New Roman"/>
              </a:rPr>
              <a:t>choice,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approximate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price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vehicle</a:t>
            </a:r>
            <a:r>
              <a:rPr sz="2400" dirty="0">
                <a:latin typeface="Times New Roman"/>
                <a:cs typeface="Times New Roman"/>
              </a:rPr>
              <a:t> w</a:t>
            </a:r>
            <a:r>
              <a:rPr lang="en-IN" sz="2400" dirty="0">
                <a:latin typeface="Times New Roman"/>
                <a:cs typeface="Times New Roman"/>
              </a:rPr>
              <a:t>ill</a:t>
            </a:r>
            <a:r>
              <a:rPr lang="en-IN" sz="2400" spc="5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Times New Roman"/>
                <a:cs typeface="Times New Roman"/>
              </a:rPr>
              <a:t>be</a:t>
            </a:r>
            <a:r>
              <a:rPr lang="en-IN" sz="2400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Times New Roman"/>
                <a:cs typeface="Times New Roman"/>
              </a:rPr>
              <a:t>displayed.</a:t>
            </a:r>
            <a:endParaRPr sz="2400" dirty="0">
              <a:latin typeface="Times New Roman"/>
              <a:cs typeface="Times New Roman"/>
            </a:endParaRPr>
          </a:p>
          <a:p>
            <a:pPr marL="469900" marR="12065" indent="-457200" algn="just">
              <a:lnSpc>
                <a:spcPct val="150100"/>
              </a:lnSpc>
              <a:spcBef>
                <a:spcPts val="1390"/>
              </a:spcBef>
              <a:buAutoNum type="arabicPeriod"/>
              <a:tabLst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Immediately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1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check </a:t>
            </a:r>
            <a:r>
              <a:rPr sz="2400" dirty="0">
                <a:latin typeface="Times New Roman"/>
                <a:cs typeface="Times New Roman"/>
              </a:rPr>
              <a:t>for the </a:t>
            </a:r>
            <a:r>
              <a:rPr sz="2400" spc="5" dirty="0">
                <a:latin typeface="Times New Roman"/>
                <a:cs typeface="Times New Roman"/>
              </a:rPr>
              <a:t>EMI </a:t>
            </a:r>
            <a:r>
              <a:rPr sz="2400" dirty="0">
                <a:latin typeface="Times New Roman"/>
                <a:cs typeface="Times New Roman"/>
              </a:rPr>
              <a:t>option, </a:t>
            </a:r>
            <a:r>
              <a:rPr sz="2400" spc="1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they </a:t>
            </a:r>
            <a:r>
              <a:rPr sz="2400" spc="-1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 decide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afford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462" y="478059"/>
            <a:ext cx="3901704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829" y="324053"/>
            <a:ext cx="3898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20" dirty="0"/>
              <a:t> </a:t>
            </a:r>
            <a:r>
              <a:rPr spc="-35" dirty="0"/>
              <a:t>Technology</a:t>
            </a:r>
            <a:r>
              <a:rPr spc="-30" dirty="0"/>
              <a:t> </a:t>
            </a:r>
            <a:r>
              <a:rPr spc="-5" dirty="0"/>
              <a:t>Stack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7263" y="1111204"/>
            <a:ext cx="3103880" cy="5484495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800" spc="5" dirty="0">
                <a:latin typeface="Times New Roman"/>
                <a:cs typeface="Times New Roman"/>
              </a:rPr>
              <a:t>1.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Frontend: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22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Tkinter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400" spc="-5" dirty="0">
                <a:latin typeface="Times New Roman"/>
                <a:cs typeface="Times New Roman"/>
              </a:rPr>
              <a:t>2.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Backend: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21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spc="-15" dirty="0">
                <a:latin typeface="Times New Roman"/>
                <a:cs typeface="Times New Roman"/>
              </a:rPr>
              <a:t>MySQL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2800" spc="5" dirty="0">
                <a:latin typeface="Times New Roman"/>
                <a:cs typeface="Times New Roman"/>
              </a:rPr>
              <a:t>3.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Learning:</a:t>
            </a:r>
            <a:endParaRPr sz="280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spcBef>
                <a:spcPts val="1215"/>
              </a:spcBef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spc="-10" dirty="0">
                <a:latin typeface="Times New Roman"/>
                <a:cs typeface="Times New Roman"/>
              </a:rPr>
              <a:t>Jupyter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Notebook</a:t>
            </a:r>
            <a:endParaRPr sz="240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latin typeface="Times New Roman"/>
                <a:cs typeface="Times New Roman"/>
              </a:rPr>
              <a:t>XGBoost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393065" algn="l"/>
              </a:tabLst>
            </a:pPr>
            <a:r>
              <a:rPr sz="2400" dirty="0">
                <a:latin typeface="Times New Roman"/>
                <a:cs typeface="Times New Roman"/>
              </a:rPr>
              <a:t>4.	</a:t>
            </a:r>
            <a:r>
              <a:rPr sz="2800" spc="-5" dirty="0">
                <a:latin typeface="Times New Roman"/>
                <a:cs typeface="Times New Roman"/>
              </a:rPr>
              <a:t>IDE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used:</a:t>
            </a:r>
            <a:endParaRPr sz="280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spcBef>
                <a:spcPts val="1215"/>
              </a:spcBef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spc="-15" dirty="0">
                <a:latin typeface="Times New Roman"/>
                <a:cs typeface="Times New Roman"/>
              </a:rPr>
              <a:t>PyCharm</a:t>
            </a:r>
            <a:endParaRPr sz="240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3695" algn="l"/>
                <a:tab pos="354330" algn="l"/>
              </a:tabLst>
            </a:pPr>
            <a:r>
              <a:rPr sz="2400" spc="-5" dirty="0">
                <a:latin typeface="Times New Roman"/>
                <a:cs typeface="Times New Roman"/>
              </a:rPr>
              <a:t>VScode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432" y="660939"/>
            <a:ext cx="3425533" cy="4531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829" y="507619"/>
            <a:ext cx="3439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50" dirty="0"/>
              <a:t> </a:t>
            </a:r>
            <a:r>
              <a:rPr dirty="0"/>
              <a:t>Block</a:t>
            </a:r>
            <a:r>
              <a:rPr spc="-70" dirty="0"/>
              <a:t> </a:t>
            </a:r>
            <a:r>
              <a:rPr dirty="0"/>
              <a:t>Diagram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327" y="2011680"/>
            <a:ext cx="2451100" cy="1082040"/>
          </a:xfrm>
          <a:prstGeom prst="rect">
            <a:avLst/>
          </a:prstGeom>
          <a:ln w="18287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700">
              <a:latin typeface="Times New Roman"/>
              <a:cs typeface="Times New Roman"/>
            </a:endParaRPr>
          </a:p>
          <a:p>
            <a:pPr marL="479425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Login/Register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1055" y="2011680"/>
            <a:ext cx="2447925" cy="1079500"/>
          </a:xfrm>
          <a:custGeom>
            <a:avLst/>
            <a:gdLst/>
            <a:ahLst/>
            <a:cxnLst/>
            <a:rect l="l" t="t" r="r" b="b"/>
            <a:pathLst>
              <a:path w="2447925" h="1079500">
                <a:moveTo>
                  <a:pt x="2447544" y="0"/>
                </a:moveTo>
                <a:lnTo>
                  <a:pt x="0" y="0"/>
                </a:lnTo>
                <a:lnTo>
                  <a:pt x="0" y="1078991"/>
                </a:lnTo>
                <a:lnTo>
                  <a:pt x="2447544" y="1078991"/>
                </a:lnTo>
                <a:lnTo>
                  <a:pt x="24475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01055" y="2011680"/>
            <a:ext cx="2447925" cy="1079500"/>
          </a:xfrm>
          <a:prstGeom prst="rect">
            <a:avLst/>
          </a:prstGeom>
          <a:ln w="18288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270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</a:pPr>
            <a:r>
              <a:rPr sz="1800" spc="-5" dirty="0">
                <a:latin typeface="Trebuchet MS"/>
                <a:cs typeface="Trebuchet MS"/>
              </a:rPr>
              <a:t>Input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details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of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car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01055" y="5148072"/>
            <a:ext cx="2447925" cy="1079500"/>
          </a:xfrm>
          <a:custGeom>
            <a:avLst/>
            <a:gdLst/>
            <a:ahLst/>
            <a:cxnLst/>
            <a:rect l="l" t="t" r="r" b="b"/>
            <a:pathLst>
              <a:path w="2447925" h="1079500">
                <a:moveTo>
                  <a:pt x="2447544" y="0"/>
                </a:moveTo>
                <a:lnTo>
                  <a:pt x="0" y="0"/>
                </a:lnTo>
                <a:lnTo>
                  <a:pt x="0" y="1078991"/>
                </a:lnTo>
                <a:lnTo>
                  <a:pt x="2447544" y="1078991"/>
                </a:lnTo>
                <a:lnTo>
                  <a:pt x="24475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01055" y="5148072"/>
            <a:ext cx="2447925" cy="1079500"/>
          </a:xfrm>
          <a:prstGeom prst="rect">
            <a:avLst/>
          </a:prstGeom>
          <a:ln w="18288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101600" marR="95885" indent="-635" algn="ctr">
              <a:lnSpc>
                <a:spcPct val="100000"/>
              </a:lnSpc>
              <a:spcBef>
                <a:spcPts val="980"/>
              </a:spcBef>
            </a:pPr>
            <a:r>
              <a:rPr sz="1800" dirty="0">
                <a:latin typeface="Trebuchet MS"/>
                <a:cs typeface="Trebuchet MS"/>
              </a:rPr>
              <a:t>The </a:t>
            </a:r>
            <a:r>
              <a:rPr sz="1800" spc="-5" dirty="0">
                <a:latin typeface="Trebuchet MS"/>
                <a:cs typeface="Trebuchet MS"/>
              </a:rPr>
              <a:t>approximately 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accurate </a:t>
            </a:r>
            <a:r>
              <a:rPr sz="1800" spc="-5" dirty="0">
                <a:latin typeface="Trebuchet MS"/>
                <a:cs typeface="Trebuchet MS"/>
              </a:rPr>
              <a:t>price will </a:t>
            </a:r>
            <a:r>
              <a:rPr sz="1800" dirty="0">
                <a:latin typeface="Trebuchet MS"/>
                <a:cs typeface="Trebuchet MS"/>
              </a:rPr>
              <a:t>be </a:t>
            </a:r>
            <a:r>
              <a:rPr sz="1800" spc="-5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displayed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5423" y="5148072"/>
            <a:ext cx="2447925" cy="1079500"/>
          </a:xfrm>
          <a:prstGeom prst="rect">
            <a:avLst/>
          </a:prstGeom>
          <a:ln w="18287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rebuchet MS"/>
                <a:cs typeface="Trebuchet MS"/>
              </a:rPr>
              <a:t>User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can calculate</a:t>
            </a: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EMI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20440" y="2292096"/>
            <a:ext cx="1600200" cy="451484"/>
            <a:chOff x="3520440" y="2292096"/>
            <a:chExt cx="1600200" cy="451484"/>
          </a:xfrm>
        </p:grpSpPr>
        <p:sp>
          <p:nvSpPr>
            <p:cNvPr id="11" name="object 11"/>
            <p:cNvSpPr/>
            <p:nvPr/>
          </p:nvSpPr>
          <p:spPr>
            <a:xfrm>
              <a:off x="3529584" y="2301240"/>
              <a:ext cx="1582420" cy="433070"/>
            </a:xfrm>
            <a:custGeom>
              <a:avLst/>
              <a:gdLst/>
              <a:ahLst/>
              <a:cxnLst/>
              <a:rect l="l" t="t" r="r" b="b"/>
              <a:pathLst>
                <a:path w="1582420" h="433069">
                  <a:moveTo>
                    <a:pt x="1365503" y="0"/>
                  </a:moveTo>
                  <a:lnTo>
                    <a:pt x="1365503" y="108203"/>
                  </a:lnTo>
                  <a:lnTo>
                    <a:pt x="0" y="108203"/>
                  </a:lnTo>
                  <a:lnTo>
                    <a:pt x="0" y="324612"/>
                  </a:lnTo>
                  <a:lnTo>
                    <a:pt x="1365503" y="324612"/>
                  </a:lnTo>
                  <a:lnTo>
                    <a:pt x="1365503" y="432815"/>
                  </a:lnTo>
                  <a:lnTo>
                    <a:pt x="1581912" y="216408"/>
                  </a:lnTo>
                  <a:lnTo>
                    <a:pt x="13655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29584" y="2301240"/>
              <a:ext cx="1582420" cy="433070"/>
            </a:xfrm>
            <a:custGeom>
              <a:avLst/>
              <a:gdLst/>
              <a:ahLst/>
              <a:cxnLst/>
              <a:rect l="l" t="t" r="r" b="b"/>
              <a:pathLst>
                <a:path w="1582420" h="433069">
                  <a:moveTo>
                    <a:pt x="0" y="108203"/>
                  </a:moveTo>
                  <a:lnTo>
                    <a:pt x="1365503" y="108203"/>
                  </a:lnTo>
                  <a:lnTo>
                    <a:pt x="1365503" y="0"/>
                  </a:lnTo>
                  <a:lnTo>
                    <a:pt x="1581912" y="216408"/>
                  </a:lnTo>
                  <a:lnTo>
                    <a:pt x="1365503" y="432815"/>
                  </a:lnTo>
                  <a:lnTo>
                    <a:pt x="1365503" y="324612"/>
                  </a:lnTo>
                  <a:lnTo>
                    <a:pt x="0" y="324612"/>
                  </a:lnTo>
                  <a:lnTo>
                    <a:pt x="0" y="108203"/>
                  </a:lnTo>
                  <a:close/>
                </a:path>
              </a:pathLst>
            </a:custGeom>
            <a:ln w="18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41776" y="5443728"/>
            <a:ext cx="1609344" cy="48158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9464" y="3380232"/>
            <a:ext cx="487680" cy="1609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2765" y="3383407"/>
            <a:ext cx="2680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imes New Roman"/>
                <a:cs typeface="Times New Roman"/>
              </a:rPr>
              <a:t>Th</a:t>
            </a:r>
            <a:r>
              <a:rPr b="0" spc="10" dirty="0">
                <a:latin typeface="Times New Roman"/>
                <a:cs typeface="Times New Roman"/>
              </a:rPr>
              <a:t>a</a:t>
            </a:r>
            <a:r>
              <a:rPr b="0" dirty="0">
                <a:latin typeface="Times New Roman"/>
                <a:cs typeface="Times New Roman"/>
              </a:rPr>
              <a:t>nk</a:t>
            </a:r>
            <a:r>
              <a:rPr b="0" spc="-155" dirty="0">
                <a:latin typeface="Times New Roman"/>
                <a:cs typeface="Times New Roman"/>
              </a:rPr>
              <a:t> </a:t>
            </a:r>
            <a:r>
              <a:rPr b="0" spc="-375" dirty="0">
                <a:latin typeface="Times New Roman"/>
                <a:cs typeface="Times New Roman"/>
              </a:rPr>
              <a:t>Y</a:t>
            </a:r>
            <a:r>
              <a:rPr b="0" dirty="0">
                <a:latin typeface="Times New Roman"/>
                <a:cs typeface="Times New Roman"/>
              </a:rPr>
              <a:t>ou</a:t>
            </a:r>
            <a:r>
              <a:rPr b="0" spc="5" dirty="0">
                <a:latin typeface="Times New Roman"/>
                <a:cs typeface="Times New Roman"/>
              </a:rPr>
              <a:t>...</a:t>
            </a:r>
            <a:r>
              <a:rPr b="0" dirty="0">
                <a:latin typeface="Times New Roman"/>
                <a:cs typeface="Times New Roman"/>
              </a:rPr>
              <a:t>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386</Words>
  <Application>Microsoft Office PowerPoint</Application>
  <PresentationFormat>Custom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MT</vt:lpstr>
      <vt:lpstr>Calibri</vt:lpstr>
      <vt:lpstr>Times New Roman</vt:lpstr>
      <vt:lpstr>Trebuchet MS</vt:lpstr>
      <vt:lpstr>Wingdings</vt:lpstr>
      <vt:lpstr>Office Theme</vt:lpstr>
      <vt:lpstr>Driviction</vt:lpstr>
      <vt:lpstr>Contents</vt:lpstr>
      <vt:lpstr>1. Introduction</vt:lpstr>
      <vt:lpstr>2. Objectives</vt:lpstr>
      <vt:lpstr>3. Scope</vt:lpstr>
      <vt:lpstr>4. Features</vt:lpstr>
      <vt:lpstr>5. Outcome of Project</vt:lpstr>
      <vt:lpstr>6. Technology Stack</vt:lpstr>
      <vt:lpstr>7. Block Diagram</vt:lpstr>
      <vt:lpstr>Thank You...!!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Driviction</dc:title>
  <cp:lastModifiedBy>vedant parulekar</cp:lastModifiedBy>
  <cp:revision>1</cp:revision>
  <dcterms:created xsi:type="dcterms:W3CDTF">2023-04-20T04:46:15Z</dcterms:created>
  <dcterms:modified xsi:type="dcterms:W3CDTF">2023-04-20T04:48:21Z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2023-04-20T00:00:00Z</vt:filetime>
  </property>
</Properties>
</file>